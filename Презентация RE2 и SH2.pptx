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1" r:id="rId5"/>
    <p:sldId id="260" r:id="rId6"/>
    <p:sldId id="263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53" autoAdjust="0"/>
    <p:restoredTop sz="76345" autoAdjust="0"/>
  </p:normalViewPr>
  <p:slideViewPr>
    <p:cSldViewPr snapToGrid="0">
      <p:cViewPr varScale="1">
        <p:scale>
          <a:sx n="62" d="100"/>
          <a:sy n="62" d="100"/>
        </p:scale>
        <p:origin x="122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2C5F8F-0F44-4068-A1BF-E9BA65906CB4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BC1B5-47E7-4D83-A965-B8A07E4685B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9730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err="1"/>
              <a:t>Титульник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BC1B5-47E7-4D83-A965-B8A07E4685B3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358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Общая информация о выбранных продуктах (они должны выполнять одну и туже функцию)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BC1B5-47E7-4D83-A965-B8A07E4685B3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5785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Выбранные критерии и подкритерии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BC1B5-47E7-4D83-A965-B8A07E4685B3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3867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Определение шкалы оценивания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BC1B5-47E7-4D83-A965-B8A07E4685B3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3080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Перечисление оценок каждого подкритерия в критерии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BC1B5-47E7-4D83-A965-B8A07E4685B3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4045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0DEAF-7A39-2A64-FD94-81A4368AB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354CA12-51C1-1D46-0B30-78B6FBF50D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4EFB8A8-1D7E-71CA-0D80-771C533908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Если подкритерий можно запечатлеть на снимке экрана, то в идеале нужно сделать (хотя бы для 50</a:t>
            </a:r>
            <a:r>
              <a:rPr lang="en-US" dirty="0"/>
              <a:t>%</a:t>
            </a:r>
            <a:r>
              <a:rPr lang="ru-RU" dirty="0"/>
              <a:t> подкритериев, в идеале для 80</a:t>
            </a:r>
            <a:r>
              <a:rPr lang="en-US" dirty="0"/>
              <a:t>%</a:t>
            </a:r>
            <a:r>
              <a:rPr lang="ru-RU" dirty="0"/>
              <a:t>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2549C86-86F3-D027-3FB3-BC436DE21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BC1B5-47E7-4D83-A965-B8A07E4685B3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1337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Итоги сравнения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09BC1B5-47E7-4D83-A965-B8A07E4685B3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550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26BA0-734D-5ED0-B79F-AA48679876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1FFF083-E73D-4271-460D-72C0D08C1F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5B0D82-F0CC-A9EB-3440-A1A9193F7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2659-EEC4-4F98-BF08-BDA7B2CDB3E1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7C2586-7742-59CA-8A47-25302F16D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6013E9-58F8-4B79-0538-08E0FCDF7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0A6-F0D5-4E3E-882C-3CB2908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348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5747EA0-8C68-82C6-BB62-52AA91C80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4450B5-3964-2B16-177E-BFDAC5E6D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5C809B-244F-6F88-5832-EDF2CF228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2659-EEC4-4F98-BF08-BDA7B2CDB3E1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65136F7-EDF5-A3CB-6557-F69A6344A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A991E03-3555-FDD7-705F-23348904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0A6-F0D5-4E3E-882C-3CB2908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8928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E6B34C-7C07-FDBA-0DD2-729C06FDE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6ADE8FA-482D-051D-A228-3C5E4E936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1CE0060-830F-8A79-E944-7C724B155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2659-EEC4-4F98-BF08-BDA7B2CDB3E1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0CAB2E7-057D-F5F0-E97E-CAD3120EB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26E4333-7F30-5AA8-69E4-CD919AF8C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0A6-F0D5-4E3E-882C-3CB2908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32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D16F2F-AA13-516B-6B69-3C657637A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5EB40B-7E9C-EDEA-EE8C-0228B909C6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3AE3A16-73CE-8215-25E0-A9C0DE3B20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F56A457-04D3-A82D-4ACD-3427ECB07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2659-EEC4-4F98-BF08-BDA7B2CDB3E1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E1EFB11-F9E9-37BC-A22D-FEEDAD42F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B210B0-B9B4-A5A4-8D9A-8F6CF036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0A6-F0D5-4E3E-882C-3CB2908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4334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27DE06-0D18-FD7F-ED2C-0270F2E9AB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A742CA1-6C11-8E98-3E0C-DCB831336B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67AB1C-9947-C0B8-EE67-40E44776D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B2668A6-93F2-CD5C-AFCE-E31A15613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B3606D4-7D51-AFB8-E04E-D42417499B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2F111221-089B-1E4D-7986-F13CA02EB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2659-EEC4-4F98-BF08-BDA7B2CDB3E1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6121F5D-BC29-C24B-B047-F5C4313F9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7FCD4D1-8E92-1E08-60F4-8CE80440D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0A6-F0D5-4E3E-882C-3CB2908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29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5967E-08B1-DFBE-87B2-155748EA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497030C-27A9-F398-5657-C7D3689F2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2659-EEC4-4F98-BF08-BDA7B2CDB3E1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65FC0F2-5DD0-C517-5481-4F89B570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693ECE-4C7D-C018-B5E2-C203AC642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0A6-F0D5-4E3E-882C-3CB2908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3464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F0872D1-FBEF-8FC0-C763-8E7D4B724E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2659-EEC4-4F98-BF08-BDA7B2CDB3E1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5F27AEC-AA4C-B925-05FB-51D906AD0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B7143DB-6B33-D2BA-F326-2B3383B37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0A6-F0D5-4E3E-882C-3CB2908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6524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2D4452D-AC44-8808-BB01-D1D56946D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C6372B-14FE-B756-9B36-C87A74C3F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9B00239-5D12-8591-F929-2C2B68889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E6978F-F359-D447-77BE-05E24A90F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2659-EEC4-4F98-BF08-BDA7B2CDB3E1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29F19C8-F356-4623-80F0-EEB6D20A1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F1C06C5-BFC1-09D2-A8F6-79E852DE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0A6-F0D5-4E3E-882C-3CB2908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0606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EA367B-FF36-C52B-2EB8-4C45F87B8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D21A5A7-6173-29D0-184E-781384863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451CADD-F3C1-36F1-B725-6140E4B69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A1306A-088C-DF90-69A4-562FC3874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2659-EEC4-4F98-BF08-BDA7B2CDB3E1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D78FD53-36FB-F7EE-4CAB-5EBFEED0F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3336752-30E7-1C86-CD50-CB4536319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0A6-F0D5-4E3E-882C-3CB2908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3453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A23B73-6612-9CB8-4221-0719E090E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FA3A866-943F-6B2B-8AD0-10D1C9235E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2549813-B280-6DF1-8E14-13AE43B12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2659-EEC4-4F98-BF08-BDA7B2CDB3E1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95AF63E-5CC5-9CED-0759-A7BF11461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7D7D2CC-E31F-8F91-25EC-BC047926B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0A6-F0D5-4E3E-882C-3CB2908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953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2B7061F-34E7-90B3-8F27-5A7798041E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D411E0A-B3F8-E9EB-181D-56D86F14CF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4B3A0D1-8988-A5DB-464C-5A5CBB048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C2659-EEC4-4F98-BF08-BDA7B2CDB3E1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1431CD-B2EA-8BC4-CBE1-8AF100878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9450C7E-D7D3-A776-CCDE-A06913047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2670A6-F0D5-4E3E-882C-3CB2908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1621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A6C14-AFB1-9406-9D16-73C5C8BF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5803BFD-0E40-694C-4293-25E2D2A38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09ACE20-38F4-057C-88BB-F79851C3FF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3C2659-EEC4-4F98-BF08-BDA7B2CDB3E1}" type="datetimeFigureOut">
              <a:rPr lang="ru-RU" smtClean="0"/>
              <a:t>04.03.2026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9E50E19-0A0C-3250-8607-E932E99F8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BC09AF6-A6FA-D6EE-C241-C66BD4AC6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2670A6-F0D5-4E3E-882C-3CB29084AE3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5824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7B9BF-3B81-FCC0-7114-1328941CDD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797"/>
            <a:ext cx="9144000" cy="1089895"/>
          </a:xfrm>
        </p:spPr>
        <p:txBody>
          <a:bodyPr/>
          <a:lstStyle/>
          <a:p>
            <a:r>
              <a:rPr lang="ru-RU" dirty="0"/>
              <a:t>Анализ …….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1BECA55-FDDC-6E95-1894-ED9F838A77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6213986"/>
            <a:ext cx="9144000" cy="420329"/>
          </a:xfrm>
        </p:spPr>
        <p:txBody>
          <a:bodyPr>
            <a:normAutofit lnSpcReduction="10000"/>
          </a:bodyPr>
          <a:lstStyle/>
          <a:p>
            <a:r>
              <a:rPr lang="ru-RU" dirty="0"/>
              <a:t>ФИО студента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521426-FF39-62F5-E993-110FD33D9C85}"/>
              </a:ext>
            </a:extLst>
          </p:cNvPr>
          <p:cNvSpPr/>
          <p:nvPr/>
        </p:nvSpPr>
        <p:spPr>
          <a:xfrm>
            <a:off x="1848464" y="2045110"/>
            <a:ext cx="3175820" cy="2802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Логотип 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EDA6E48-5E48-6A59-1C7D-0E821994CBA8}"/>
              </a:ext>
            </a:extLst>
          </p:cNvPr>
          <p:cNvSpPr/>
          <p:nvPr/>
        </p:nvSpPr>
        <p:spPr>
          <a:xfrm>
            <a:off x="6700684" y="2027903"/>
            <a:ext cx="3175820" cy="28021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Логотип 2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4930E885-5D8F-51F6-B998-9669333B6884}"/>
              </a:ext>
            </a:extLst>
          </p:cNvPr>
          <p:cNvSpPr txBox="1">
            <a:spLocks/>
          </p:cNvSpPr>
          <p:nvPr/>
        </p:nvSpPr>
        <p:spPr>
          <a:xfrm>
            <a:off x="1652954" y="4929392"/>
            <a:ext cx="3552092" cy="6449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Наименование 1 </a:t>
            </a:r>
            <a:br>
              <a:rPr lang="ru-RU" dirty="0"/>
            </a:br>
            <a:r>
              <a:rPr lang="ru-RU" dirty="0"/>
              <a:t>(если в лого нет)</a:t>
            </a: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AACC6840-F547-F7C9-66BA-AF67353AC33F}"/>
              </a:ext>
            </a:extLst>
          </p:cNvPr>
          <p:cNvSpPr txBox="1">
            <a:spLocks/>
          </p:cNvSpPr>
          <p:nvPr/>
        </p:nvSpPr>
        <p:spPr>
          <a:xfrm>
            <a:off x="6229775" y="4952616"/>
            <a:ext cx="4548366" cy="7942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Наименование 2 </a:t>
            </a:r>
            <a:br>
              <a:rPr lang="ru-RU" dirty="0"/>
            </a:br>
            <a:r>
              <a:rPr lang="ru-RU" dirty="0"/>
              <a:t>(если в лого нет)</a:t>
            </a:r>
          </a:p>
        </p:txBody>
      </p:sp>
    </p:spTree>
    <p:extLst>
      <p:ext uri="{BB962C8B-B14F-4D97-AF65-F5344CB8AC3E}">
        <p14:creationId xmlns:p14="http://schemas.microsoft.com/office/powerpoint/2010/main" val="155199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B0D15-AA78-358B-0F52-C0A4B5683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E828A-B4BA-6DB0-A88A-93FA97314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797"/>
            <a:ext cx="9144000" cy="1089895"/>
          </a:xfrm>
        </p:spPr>
        <p:txBody>
          <a:bodyPr/>
          <a:lstStyle/>
          <a:p>
            <a:r>
              <a:rPr lang="ru-RU" dirty="0"/>
              <a:t>Общая информация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25AD4216-6C5C-755D-03E3-7BD335B7634D}"/>
              </a:ext>
            </a:extLst>
          </p:cNvPr>
          <p:cNvSpPr txBox="1">
            <a:spLocks/>
          </p:cNvSpPr>
          <p:nvPr/>
        </p:nvSpPr>
        <p:spPr>
          <a:xfrm>
            <a:off x="670293" y="2027930"/>
            <a:ext cx="9143999" cy="873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Определение рассматриваемого продукта</a:t>
            </a:r>
          </a:p>
        </p:txBody>
      </p:sp>
      <p:sp>
        <p:nvSpPr>
          <p:cNvPr id="10" name="Подзаголовок 2">
            <a:extLst>
              <a:ext uri="{FF2B5EF4-FFF2-40B4-BE49-F238E27FC236}">
                <a16:creationId xmlns:a16="http://schemas.microsoft.com/office/drawing/2014/main" id="{327A093A-6F70-7871-21BB-2A18DC435C0C}"/>
              </a:ext>
            </a:extLst>
          </p:cNvPr>
          <p:cNvSpPr txBox="1">
            <a:spLocks/>
          </p:cNvSpPr>
          <p:nvPr/>
        </p:nvSpPr>
        <p:spPr>
          <a:xfrm>
            <a:off x="670291" y="2849982"/>
            <a:ext cx="11076229" cy="73770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Области применения </a:t>
            </a:r>
            <a:br>
              <a:rPr lang="ru-RU" dirty="0"/>
            </a:br>
            <a:r>
              <a:rPr lang="ru-RU" dirty="0"/>
              <a:t>(перечислить) </a:t>
            </a:r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01C1FAC9-5E84-FEE8-DEF3-911FBDA6C93C}"/>
              </a:ext>
            </a:extLst>
          </p:cNvPr>
          <p:cNvSpPr txBox="1">
            <a:spLocks/>
          </p:cNvSpPr>
          <p:nvPr/>
        </p:nvSpPr>
        <p:spPr>
          <a:xfrm>
            <a:off x="670292" y="3974124"/>
            <a:ext cx="11076229" cy="28838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Преимущества выбранных продуктов (общие)</a:t>
            </a:r>
            <a:br>
              <a:rPr lang="ru-RU" dirty="0"/>
            </a:br>
            <a:r>
              <a:rPr lang="ru-RU" dirty="0"/>
              <a:t>(перечислить) </a:t>
            </a:r>
          </a:p>
          <a:p>
            <a:endParaRPr lang="ru-RU" dirty="0"/>
          </a:p>
          <a:p>
            <a:r>
              <a:rPr lang="ru-RU" dirty="0"/>
              <a:t>Пример</a:t>
            </a:r>
            <a:r>
              <a:rPr lang="en-US" dirty="0"/>
              <a:t>:</a:t>
            </a:r>
          </a:p>
          <a:p>
            <a:pPr marL="457200" indent="-457200">
              <a:buAutoNum type="arabicPeriod"/>
            </a:pPr>
            <a:r>
              <a:rPr lang="ru-RU" b="1" dirty="0"/>
              <a:t>Эффективное хранение данных</a:t>
            </a:r>
          </a:p>
          <a:p>
            <a:pPr marL="457200" indent="-457200">
              <a:buAutoNum type="arabicPeriod"/>
            </a:pPr>
            <a:r>
              <a:rPr lang="ru-RU" b="1" dirty="0"/>
              <a:t>Креативность</a:t>
            </a:r>
            <a:r>
              <a:rPr lang="ru-RU" dirty="0"/>
              <a:t>  (если про какой-то определенный жанр игры) </a:t>
            </a:r>
          </a:p>
        </p:txBody>
      </p:sp>
    </p:spTree>
    <p:extLst>
      <p:ext uri="{BB962C8B-B14F-4D97-AF65-F5344CB8AC3E}">
        <p14:creationId xmlns:p14="http://schemas.microsoft.com/office/powerpoint/2010/main" val="1017221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761FE-8CD6-C43B-8D76-0C56BD3C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D3E2A7-EA09-ADB7-048A-75F2ACC3E8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987791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5F9BDAD-E560-1827-9B7D-CEF0624B51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7774" y="1436914"/>
            <a:ext cx="11060151" cy="4994031"/>
          </a:xfrm>
        </p:spPr>
        <p:txBody>
          <a:bodyPr numCol="2">
            <a:normAutofit/>
          </a:bodyPr>
          <a:lstStyle/>
          <a:p>
            <a:pPr lvl="1" algn="just">
              <a:lnSpc>
                <a:spcPct val="100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ru-RU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Критерий</a:t>
            </a:r>
            <a:endParaRPr lang="ru-RU" sz="1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1.1</a:t>
            </a:r>
          </a:p>
          <a:p>
            <a:pPr marL="28575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1.2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1.3</a:t>
            </a: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1.4</a:t>
            </a: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1.5</a:t>
            </a:r>
          </a:p>
          <a:p>
            <a:pPr lvl="0" algn="just">
              <a:lnSpc>
                <a:spcPct val="100000"/>
              </a:lnSpc>
              <a:buSzPts val="1000"/>
              <a:tabLst>
                <a:tab pos="457200" algn="l"/>
              </a:tabLst>
            </a:pP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Aft>
                <a:spcPts val="800"/>
              </a:spcAft>
            </a:pPr>
            <a:r>
              <a:rPr lang="ru-RU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ru-RU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Критерий</a:t>
            </a:r>
            <a:endParaRPr lang="ru-RU" sz="1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2.1</a:t>
            </a:r>
          </a:p>
          <a:p>
            <a:pPr marL="28575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2.2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2.3</a:t>
            </a: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2.4</a:t>
            </a:r>
          </a:p>
          <a:p>
            <a:pPr lvl="1" algn="just">
              <a:lnSpc>
                <a:spcPct val="100000"/>
              </a:lnSpc>
            </a:pPr>
            <a:endParaRPr lang="ru-RU" sz="1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endParaRPr lang="ru-RU" sz="1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endParaRPr lang="ru-RU" sz="1400" b="1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Aft>
                <a:spcPts val="800"/>
              </a:spcAft>
            </a:pPr>
            <a:endParaRPr lang="ru-RU" sz="1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Aft>
                <a:spcPts val="800"/>
              </a:spcAft>
            </a:pPr>
            <a:r>
              <a:rPr lang="ru-RU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ru-RU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Критерий</a:t>
            </a:r>
            <a:endParaRPr lang="ru-RU" sz="1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3.1</a:t>
            </a:r>
          </a:p>
          <a:p>
            <a:pPr marL="28575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3.2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3.3</a:t>
            </a: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3.4</a:t>
            </a:r>
          </a:p>
          <a:p>
            <a:pPr lvl="0" algn="just">
              <a:lnSpc>
                <a:spcPct val="100000"/>
              </a:lnSpc>
              <a:buSzPts val="1000"/>
              <a:tabLst>
                <a:tab pos="457200" algn="l"/>
              </a:tabLst>
            </a:pP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  <a:spcAft>
                <a:spcPts val="800"/>
              </a:spcAft>
            </a:pPr>
            <a:r>
              <a:rPr lang="ru-RU" sz="14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</a:t>
            </a:r>
            <a:r>
              <a:rPr lang="ru-RU" sz="14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Критерий</a:t>
            </a:r>
            <a:endParaRPr lang="ru-RU" sz="11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4.1</a:t>
            </a:r>
          </a:p>
          <a:p>
            <a:pPr marL="28575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4.2</a:t>
            </a:r>
            <a:endParaRPr lang="ru-RU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4.3</a:t>
            </a: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Подкритерий 4.4</a:t>
            </a:r>
          </a:p>
          <a:p>
            <a:pPr marL="285750" lvl="0" indent="-285750" algn="just">
              <a:lnSpc>
                <a:spcPct val="100000"/>
              </a:lnSpc>
              <a:buSzPts val="1000"/>
              <a:buFont typeface="Arial" panose="020B0604020202020204" pitchFamily="34" charset="0"/>
              <a:buChar char="•"/>
              <a:tabLst>
                <a:tab pos="457200" algn="l"/>
              </a:tabLst>
            </a:pPr>
            <a:endParaRPr lang="ru-RU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6906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04AA9-DA24-1F89-0CAE-D6110174A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263D95-9B82-ED0B-47C5-BDE8FADB2D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7397" y="0"/>
            <a:ext cx="9144000" cy="987791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Шкала оценивания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9ECA43-B03E-20FA-D438-EF960A09DA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0870" y="1097280"/>
            <a:ext cx="11857055" cy="5333665"/>
          </a:xfrm>
        </p:spPr>
        <p:txBody>
          <a:bodyPr>
            <a:normAutofit fontScale="92500" lnSpcReduction="10000"/>
          </a:bodyPr>
          <a:lstStyle/>
          <a:p>
            <a:pPr marL="457200"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0 –Всё плохо, не соответствует требованиям; </a:t>
            </a:r>
          </a:p>
          <a:p>
            <a:pPr marL="457200"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– ………… </a:t>
            </a:r>
          </a:p>
          <a:p>
            <a:pPr marL="457200"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–  ….; </a:t>
            </a:r>
          </a:p>
          <a:p>
            <a:pPr marL="457200"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 – ……………..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0215" algn="just">
              <a:lnSpc>
                <a:spcPct val="150000"/>
              </a:lnSpc>
              <a:spcAft>
                <a:spcPts val="800"/>
              </a:spcAft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– …..</a:t>
            </a:r>
            <a:endParaRPr lang="en-US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0215" algn="just">
              <a:lnSpc>
                <a:spcPct val="150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5 - …….</a:t>
            </a:r>
            <a:endParaRPr lang="ru-RU" sz="1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60000" indent="450215"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примеру</a:t>
            </a:r>
            <a:r>
              <a:rPr lang="en-US" sz="1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marL="360000" indent="450215"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 – функционал присутствует, но сильно ограничен или неудобен по сравнению с другими маркетплейсами; </a:t>
            </a:r>
          </a:p>
          <a:p>
            <a:pPr marL="360000" indent="450215"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 –  функционал имеется, но его объем недостаточен, использовать можно, может быть не совсем удобным, соответствует требованиям, но не хватает некоторых функций; </a:t>
            </a:r>
          </a:p>
          <a:p>
            <a:pPr marL="360000" indent="450215"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 –Относительно удобно пользоваться, соответствует требованиям, но есть несущественные недостатки; </a:t>
            </a:r>
          </a:p>
          <a:p>
            <a:pPr marL="360000" indent="450215" algn="just">
              <a:lnSpc>
                <a:spcPct val="120000"/>
              </a:lnSpc>
              <a:spcBef>
                <a:spcPts val="0"/>
              </a:spcBef>
            </a:pPr>
            <a:r>
              <a:rPr lang="ru-RU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 –Удобно пользоваться, соответствует требованиям.</a:t>
            </a: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0215" algn="just">
              <a:lnSpc>
                <a:spcPct val="150000"/>
              </a:lnSpc>
              <a:spcAft>
                <a:spcPts val="800"/>
              </a:spcAft>
            </a:pPr>
            <a:endParaRPr lang="ru-RU" sz="1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450215" algn="just">
              <a:lnSpc>
                <a:spcPct val="150000"/>
              </a:lnSpc>
              <a:spcAft>
                <a:spcPts val="800"/>
              </a:spcAft>
            </a:pPr>
            <a:endParaRPr lang="ru-RU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093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649D9-327E-3FC4-51E8-1107C866F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A9E60-7A6C-E910-EC6C-43F92260C1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0"/>
            <a:ext cx="9478945" cy="927502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Критерий 1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1074A678-5A2A-0FC3-9CA9-7270AA4F7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4115978"/>
              </p:ext>
            </p:extLst>
          </p:nvPr>
        </p:nvGraphicFramePr>
        <p:xfrm>
          <a:off x="1999060" y="1889694"/>
          <a:ext cx="9339500" cy="3078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875">
                  <a:extLst>
                    <a:ext uri="{9D8B030D-6E8A-4147-A177-3AD203B41FA5}">
                      <a16:colId xmlns:a16="http://schemas.microsoft.com/office/drawing/2014/main" val="1160496597"/>
                    </a:ext>
                  </a:extLst>
                </a:gridCol>
                <a:gridCol w="2334875">
                  <a:extLst>
                    <a:ext uri="{9D8B030D-6E8A-4147-A177-3AD203B41FA5}">
                      <a16:colId xmlns:a16="http://schemas.microsoft.com/office/drawing/2014/main" val="360317298"/>
                    </a:ext>
                  </a:extLst>
                </a:gridCol>
                <a:gridCol w="2334875">
                  <a:extLst>
                    <a:ext uri="{9D8B030D-6E8A-4147-A177-3AD203B41FA5}">
                      <a16:colId xmlns:a16="http://schemas.microsoft.com/office/drawing/2014/main" val="3984258586"/>
                    </a:ext>
                  </a:extLst>
                </a:gridCol>
                <a:gridCol w="2334875">
                  <a:extLst>
                    <a:ext uri="{9D8B030D-6E8A-4147-A177-3AD203B41FA5}">
                      <a16:colId xmlns:a16="http://schemas.microsoft.com/office/drawing/2014/main" val="2886040501"/>
                    </a:ext>
                  </a:extLst>
                </a:gridCol>
              </a:tblGrid>
              <a:tr h="513102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Подкритерий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Вес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Продукт 1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Продукт 2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9539993"/>
                  </a:ext>
                </a:extLst>
              </a:tr>
              <a:tr h="51310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1.1 Наименование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Оценка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Оценка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2890084"/>
                  </a:ext>
                </a:extLst>
              </a:tr>
              <a:tr h="51310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1.2 Наименование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Оценка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6350473"/>
                  </a:ext>
                </a:extLst>
              </a:tr>
              <a:tr h="51310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1.3 Наименование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069539"/>
                  </a:ext>
                </a:extLst>
              </a:tr>
              <a:tr h="51310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1.4 Наименование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3486392"/>
                  </a:ext>
                </a:extLst>
              </a:tr>
              <a:tr h="51310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1.5 Наименование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00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75212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E5E27-273D-05E2-A295-057CDB442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7D9BDA-F00D-9B81-9878-00356C1361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0"/>
            <a:ext cx="9478945" cy="927502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Подкритерий 1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6A177312-2328-1F54-DE69-E5E3884B0C3F}"/>
              </a:ext>
            </a:extLst>
          </p:cNvPr>
          <p:cNvSpPr/>
          <p:nvPr/>
        </p:nvSpPr>
        <p:spPr>
          <a:xfrm>
            <a:off x="926757" y="927502"/>
            <a:ext cx="10293177" cy="48801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3200" dirty="0"/>
              <a:t>Скриншот 1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039CAD36-0577-2949-6B34-B6DB8EA369AB}"/>
              </a:ext>
            </a:extLst>
          </p:cNvPr>
          <p:cNvSpPr txBox="1">
            <a:spLocks/>
          </p:cNvSpPr>
          <p:nvPr/>
        </p:nvSpPr>
        <p:spPr>
          <a:xfrm>
            <a:off x="1614614" y="5807676"/>
            <a:ext cx="9478945" cy="53134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Краткое описание скриншота</a:t>
            </a:r>
          </a:p>
        </p:txBody>
      </p:sp>
    </p:spTree>
    <p:extLst>
      <p:ext uri="{BB962C8B-B14F-4D97-AF65-F5344CB8AC3E}">
        <p14:creationId xmlns:p14="http://schemas.microsoft.com/office/powerpoint/2010/main" val="1577043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5D82E-51D0-D69E-A0B8-A1522556A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92038F9-6E52-3715-D6DC-F1F0374ED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0"/>
            <a:ext cx="9478945" cy="927502"/>
          </a:xfrm>
        </p:spPr>
        <p:txBody>
          <a:bodyPr>
            <a:norm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Общая оценка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D19D36E0-BBE8-4DB5-F5C5-B5915D1FC8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2839823"/>
              </p:ext>
            </p:extLst>
          </p:nvPr>
        </p:nvGraphicFramePr>
        <p:xfrm>
          <a:off x="1523998" y="1645219"/>
          <a:ext cx="9692644" cy="30786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1">
                  <a:extLst>
                    <a:ext uri="{9D8B030D-6E8A-4147-A177-3AD203B41FA5}">
                      <a16:colId xmlns:a16="http://schemas.microsoft.com/office/drawing/2014/main" val="1160496597"/>
                    </a:ext>
                  </a:extLst>
                </a:gridCol>
                <a:gridCol w="2423161">
                  <a:extLst>
                    <a:ext uri="{9D8B030D-6E8A-4147-A177-3AD203B41FA5}">
                      <a16:colId xmlns:a16="http://schemas.microsoft.com/office/drawing/2014/main" val="802694457"/>
                    </a:ext>
                  </a:extLst>
                </a:gridCol>
                <a:gridCol w="2423161">
                  <a:extLst>
                    <a:ext uri="{9D8B030D-6E8A-4147-A177-3AD203B41FA5}">
                      <a16:colId xmlns:a16="http://schemas.microsoft.com/office/drawing/2014/main" val="2866972256"/>
                    </a:ext>
                  </a:extLst>
                </a:gridCol>
                <a:gridCol w="2423161">
                  <a:extLst>
                    <a:ext uri="{9D8B030D-6E8A-4147-A177-3AD203B41FA5}">
                      <a16:colId xmlns:a16="http://schemas.microsoft.com/office/drawing/2014/main" val="3431031465"/>
                    </a:ext>
                  </a:extLst>
                </a:gridCol>
              </a:tblGrid>
              <a:tr h="513102">
                <a:tc>
                  <a:txBody>
                    <a:bodyPr/>
                    <a:lstStyle/>
                    <a:p>
                      <a:r>
                        <a:rPr lang="ru-RU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Критерии</a:t>
                      </a:r>
                      <a:endParaRPr lang="ru-RU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Вес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Продукт 1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2400" b="0" i="0" u="none" strike="noStrike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Продукт 2</a:t>
                      </a:r>
                      <a:endParaRPr lang="en-US" sz="2400" b="0" i="0" u="none" strike="noStrike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29539993"/>
                  </a:ext>
                </a:extLst>
              </a:tr>
              <a:tr h="51310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 1.Наименование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Общая оценка с учетом веса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Общая оценка с учетом веса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2890084"/>
                  </a:ext>
                </a:extLst>
              </a:tr>
              <a:tr h="51310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2.Наименование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0,2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Оценка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6350473"/>
                  </a:ext>
                </a:extLst>
              </a:tr>
              <a:tr h="51310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3.Наименование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0,3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0,5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6069539"/>
                  </a:ext>
                </a:extLst>
              </a:tr>
              <a:tr h="51310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 ……………….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………….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………….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833486392"/>
                  </a:ext>
                </a:extLst>
              </a:tr>
              <a:tr h="513102">
                <a:tc>
                  <a:txBody>
                    <a:bodyPr/>
                    <a:lstStyle/>
                    <a:p>
                      <a:pPr algn="l" fontAlgn="ctr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Качество (итого)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%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008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04506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362</Words>
  <Application>Microsoft Office PowerPoint</Application>
  <PresentationFormat>Широкоэкранный</PresentationFormat>
  <Paragraphs>121</Paragraphs>
  <Slides>7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Анализ …….</vt:lpstr>
      <vt:lpstr>Общая информация</vt:lpstr>
      <vt:lpstr>Критерии</vt:lpstr>
      <vt:lpstr>Шкала оценивания</vt:lpstr>
      <vt:lpstr>Критерий 1</vt:lpstr>
      <vt:lpstr>Подкритерий 1</vt:lpstr>
      <vt:lpstr>Общая оценка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Денис Данилов</dc:creator>
  <cp:lastModifiedBy>Денис Данилов</cp:lastModifiedBy>
  <cp:revision>17</cp:revision>
  <dcterms:created xsi:type="dcterms:W3CDTF">2026-03-04T06:07:38Z</dcterms:created>
  <dcterms:modified xsi:type="dcterms:W3CDTF">2026-03-04T08:00:04Z</dcterms:modified>
</cp:coreProperties>
</file>